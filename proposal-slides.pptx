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FYP PROPOSAL DEFENSE · FAST SCHOOL OF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37360"/>
            <a:ext cx="1105783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1A1F26"/>
                </a:solidFill>
                <a:latin typeface="Segoe UI Semibold"/>
              </a:rPr>
              <a:t>Metamorph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900" b="0" i="0">
                <a:solidFill>
                  <a:srgbClr val="5B6675"/>
                </a:solidFill>
                <a:latin typeface="Segoe UI"/>
              </a:rPr>
              <a:t>An agentic metamorphic testing framework for computer vision 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977639"/>
            <a:ext cx="38100" cy="105156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977639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buNone/>
            </a:pPr>
            <a:r>
              <a:rPr sz="1550" b="0" i="0">
                <a:solidFill>
                  <a:srgbClr val="1A1F26"/>
                </a:solidFill>
                <a:latin typeface="Segoe UI"/>
              </a:rPr>
              <a:t>We can measure a vision model's accuracy on its test set — but we have </a:t>
            </a:r>
            <a:r>
              <a:rPr sz="1550" b="1" i="0">
                <a:solidFill>
                  <a:srgbClr val="1A1F26"/>
                </a:solidFill>
                <a:latin typeface="Segoe UI"/>
              </a:rPr>
              <a:t>no way to check it</a:t>
            </a:r>
            <a:r>
              <a:rPr sz="1550" b="0" i="0">
                <a:solidFill>
                  <a:srgbClr val="1A1F26"/>
                </a:solidFill>
                <a:latin typeface="Segoe UI"/>
              </a:rPr>
              <a:t> against fog, night, motion blur, glare or occlusion, because those inputs have no labels and no test oracle.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23560"/>
            <a:ext cx="11057839" cy="1524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8064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5B6675"/>
                </a:solidFill>
                <a:latin typeface="Segoe UI"/>
              </a:rPr>
              <a:t>Group   </a:t>
            </a:r>
            <a:r>
              <a:rPr sz="1250" b="0" i="1">
                <a:solidFill>
                  <a:srgbClr val="2F6BFF"/>
                </a:solidFill>
                <a:latin typeface="Consolas"/>
              </a:rPr>
              <a:t>〈Member A〉 · 〈Member B〉 · 〈Member C〉</a:t>
            </a:r>
            <a:r>
              <a:rPr sz="1250" b="0" i="0">
                <a:solidFill>
                  <a:srgbClr val="5B6675"/>
                </a:solidFill>
                <a:latin typeface="Segoe UI"/>
              </a:rPr>
              <a:t>        Supervisor   </a:t>
            </a:r>
            <a:r>
              <a:rPr sz="1250" b="0" i="1">
                <a:solidFill>
                  <a:srgbClr val="2F6BFF"/>
                </a:solidFill>
                <a:latin typeface="Consolas"/>
              </a:rPr>
              <a:t>〈Supervisor〉</a:t>
            </a:r>
            <a:r>
              <a:rPr sz="1250" b="0" i="0">
                <a:solidFill>
                  <a:srgbClr val="5B6675"/>
                </a:solidFill>
                <a:latin typeface="Segoe UI"/>
              </a:rPr>
              <a:t>        Category   </a:t>
            </a:r>
            <a:r>
              <a:rPr sz="1250" b="0" i="0">
                <a:solidFill>
                  <a:srgbClr val="1A1F26"/>
                </a:solidFill>
                <a:latin typeface="Consolas"/>
              </a:rPr>
              <a:t>R&amp;D · ML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Problem and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02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WHO HAS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A1F26"/>
                </a:solidFill>
                <a:latin typeface="Segoe UI"/>
              </a:rPr>
              <a:t>Any team shipping a trained detector, segmenter or tracker — autonomous driving, ADAS, agriculture, medical imaging, security — plus the ML researchers and QA engineers who must sign off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832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03320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5"/>
                </a:solidFill>
                <a:latin typeface="Segoe UI"/>
              </a:rPr>
              <a:t>The held-out test set never contains the weather, lighting and camera conditions the model meets in deployment. Models fail </a:t>
            </a:r>
            <a:r>
              <a:rPr sz="1300" b="1" i="0">
                <a:solidFill>
                  <a:srgbClr val="5B6675"/>
                </a:solidFill>
                <a:latin typeface="Segoe UI"/>
              </a:rPr>
              <a:t>silently</a:t>
            </a:r>
            <a:r>
              <a:rPr sz="1300" b="0" i="0">
                <a:solidFill>
                  <a:srgbClr val="5B6675"/>
                </a:solidFill>
                <a:latin typeface="Segoe UI"/>
              </a:rPr>
              <a:t> and the failures concentrate on vulnerable classes — pedestrians, cyclists — where an error is most costly. There is no standard method, no oracle, and no coverage measure for this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371600"/>
            <a:ext cx="4572000" cy="402336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572768"/>
            <a:ext cx="4169664" cy="3621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CURRENT WORKFLOW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50" b="0" i="0">
                <a:solidFill>
                  <a:srgbClr val="1A1F26"/>
                </a:solidFill>
                <a:latin typeface="Segoe UI"/>
              </a:rPr>
              <a:t>Collect &amp; label a dataset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50" b="0" i="0">
                <a:solidFill>
                  <a:srgbClr val="1A1F26"/>
                </a:solidFill>
                <a:latin typeface="Segoe UI"/>
              </a:rPr>
              <a:t>Train the model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50" b="0" i="0">
                <a:solidFill>
                  <a:srgbClr val="1A1F26"/>
                </a:solidFill>
                <a:latin typeface="Segoe UI"/>
              </a:rPr>
              <a:t>Report accuracy / mAP on a held-out split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50" b="1" i="0">
                <a:solidFill>
                  <a:srgbClr val="1A1F26"/>
                </a:solidFill>
                <a:latin typeface="Segoe UI"/>
              </a:rPr>
              <a:t>Robustness?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 checked ad-hoc — a few hand-picked images, hand-written augmentations, per person, per project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50" b="0" i="0">
                <a:solidFill>
                  <a:srgbClr val="1A1F26"/>
                </a:solidFill>
                <a:latin typeface="Segoe UI"/>
              </a:rPr>
              <a:t>Ship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Segoe UI"/>
              </a:rPr>
              <a:t>The gap sits between step 3 and step 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Existing solutions and prior-FYP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03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55096" cy="34198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2100834"/>
                <a:gridCol w="2100834"/>
                <a:gridCol w="2100834"/>
                <a:gridCol w="210083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4A1"/>
                          </a:solidFill>
                          <a:latin typeface="Consolas"/>
                        </a:rPr>
                        <a:t>Capability</a:t>
                      </a:r>
                    </a:p>
                  </a:txBody>
                  <a:tcPr marL="82296" marR="82296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4A1"/>
                          </a:solidFill>
                          <a:latin typeface="Consolas"/>
                        </a:rPr>
                        <a:t>Adversarial testing
FGSM / PGD</a:t>
                      </a:r>
                    </a:p>
                  </a:txBody>
                  <a:tcPr marL="82296" marR="82296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4A1"/>
                          </a:solidFill>
                          <a:latin typeface="Consolas"/>
                        </a:rPr>
                        <a:t>Augmentation libs
imgaug · Albumentations</a:t>
                      </a:r>
                    </a:p>
                  </a:txBody>
                  <a:tcPr marL="82296" marR="82296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4A1"/>
                          </a:solidFill>
                          <a:latin typeface="Consolas"/>
                        </a:rPr>
                        <a:t>Existing MT for CV
fixed 21 MRs</a:t>
                      </a:r>
                    </a:p>
                  </a:txBody>
                  <a:tcPr marL="82296" marR="82296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4A1"/>
                          </a:solidFill>
                          <a:latin typeface="Consolas"/>
                        </a:rPr>
                        <a:t>Metamorph</a:t>
                      </a:r>
                    </a:p>
                  </a:txBody>
                  <a:tcPr marL="82296" marR="82296" marT="45720" marB="45720" anchor="ctr"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Oracle without new labels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9791A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9D63"/>
                          </a:solidFill>
                          <a:latin typeface="Segoe UI"/>
                        </a:rPr>
                        <a:t>yes — fixed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yes — task-aware</a:t>
                      </a:r>
                    </a:p>
                  </a:txBody>
                  <a:tcPr marL="82296" marR="82296" marT="45720" marB="45720" anchor="ctr"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Realistic weather / lighting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9791A"/>
                          </a:solidFill>
                          <a:latin typeface="Segoe UI"/>
                        </a:rPr>
                        <a:t>pixel filters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9791A"/>
                          </a:solidFill>
                          <a:latin typeface="Segoe UI"/>
                        </a:rPr>
                        <a:t>1 (sunny→snowy)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generative edits</a:t>
                      </a:r>
                    </a:p>
                  </a:txBody>
                  <a:tcPr marL="82296" marR="82296" marT="45720" marB="45720" anchor="ctr"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Adapts to the model's domain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LLM-discovered MRs</a:t>
                      </a:r>
                    </a:p>
                  </a:txBody>
                  <a:tcPr marL="82296" marR="82296" marT="45720" marB="45720" anchor="ctr"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Checks meaning is preserved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B94A1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CLIP gate</a:t>
                      </a:r>
                    </a:p>
                  </a:txBody>
                  <a:tcPr marL="82296" marR="82296" marT="45720" marB="45720" anchor="ctr"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Evidence-guided test selection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closed loop + memory</a:t>
                      </a:r>
                    </a:p>
                  </a:txBody>
                  <a:tcPr marL="82296" marR="82296" marT="45720" marB="45720" anchor="ctr"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Coverage &amp; robustness report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6323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9791A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6"/>
                          </a:solidFill>
                          <a:latin typeface="Segoe UI"/>
                        </a:rPr>
                        <a:t>per condition &amp; class</a:t>
                      </a:r>
                    </a:p>
                  </a:txBody>
                  <a:tcPr marL="82296" marR="82296" marT="45720" marB="45720" anchor="ctr"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120640"/>
            <a:ext cx="110578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1A1F26"/>
                </a:solidFill>
                <a:latin typeface="Segoe UI"/>
              </a:rPr>
              <a:t>Prior FYP work   </a:t>
            </a:r>
            <a:r>
              <a:rPr sz="1200" b="0" i="1">
                <a:solidFill>
                  <a:srgbClr val="2F6BFF"/>
                </a:solidFill>
                <a:latin typeface="Segoe UI"/>
              </a:rPr>
              <a:t>〈if any — e.g. "Prior FYP applied the fixed 21 MRs to one classifier; no domain adaptation, no generative transforms, no memory."〉</a:t>
            </a:r>
          </a:p>
          <a:p>
            <a:pPr algn="l">
              <a:lnSpc>
                <a:spcPct val="14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2F6BFF"/>
                </a:solidFill>
                <a:latin typeface="Consolas"/>
              </a:rPr>
              <a:t>The gap:  </a:t>
            </a:r>
            <a:r>
              <a:rPr sz="1250" b="0" i="0">
                <a:solidFill>
                  <a:srgbClr val="5B6675"/>
                </a:solidFill>
                <a:latin typeface="Segoe UI"/>
              </a:rPr>
              <a:t>no framework combines a label-free task-aware oracle with domain-adaptive MR discovery, generative transforms behind a semantic gate, and adaptive selection.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R&amp;D / recent technical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04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532120" cy="502920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572768"/>
            <a:ext cx="5129784" cy="462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SOURCES WE BUILD ON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Metamorphic testing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Chen et al., ACM CSUR 2018: test without an oracle via relations between inputs and outputs.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MT for deep models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DeepTest (ICSE 2018), DeepRoad (ASE 2018): GAN weather for driving models — but hand-fixed relations.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The 21-MR library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for image classification — our general-purpose starting set.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1" i="0">
                <a:solidFill>
                  <a:srgbClr val="6A5ACD"/>
                </a:solidFill>
                <a:latin typeface="Segoe UI"/>
              </a:rPr>
              <a:t>InstructPix2Pix</a:t>
            </a:r>
            <a:r>
              <a:rPr sz="1200" b="0" i="0">
                <a:solidFill>
                  <a:srgbClr val="6A5ACD"/>
                </a:solidFill>
                <a:latin typeface="Segoe UI"/>
              </a:rPr>
              <a:t> — Brooks et al., CVPR 2023: edit an image from a text instruction.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1" i="0">
                <a:solidFill>
                  <a:srgbClr val="6A5ACD"/>
                </a:solidFill>
                <a:latin typeface="Segoe UI"/>
              </a:rPr>
              <a:t>CLIP</a:t>
            </a:r>
            <a:r>
              <a:rPr sz="1200" b="0" i="0">
                <a:solidFill>
                  <a:srgbClr val="6A5ACD"/>
                </a:solidFill>
                <a:latin typeface="Segoe UI"/>
              </a:rPr>
              <a:t> — Radford et al., ICML 2021: image↔text similarity, used here as the semantic gate.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1" i="0">
                <a:solidFill>
                  <a:srgbClr val="6A5ACD"/>
                </a:solidFill>
                <a:latin typeface="Segoe UI"/>
              </a:rPr>
              <a:t>Tool-using LLM agents</a:t>
            </a:r>
            <a:r>
              <a:rPr sz="1200" b="0" i="0">
                <a:solidFill>
                  <a:srgbClr val="6A5ACD"/>
                </a:solidFill>
                <a:latin typeface="Segoe UI"/>
              </a:rPr>
              <a:t> — plan-act-observe loops for MR discovery.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212080" cy="5029200"/>
          </a:xfrm>
          <a:prstGeom prst="roundRect">
            <a:avLst>
              <a:gd name="adj" fmla="val 4500"/>
            </a:avLst>
          </a:prstGeom>
          <a:solidFill>
            <a:srgbClr val="EAF0FF"/>
          </a:solidFill>
          <a:ln w="1270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572768"/>
            <a:ext cx="4809744" cy="462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2F6BFF"/>
                </a:solidFill>
                <a:latin typeface="Consolas"/>
              </a:rPr>
              <a:t>WHAT WE TOOK FROM IT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50" b="0" i="0">
                <a:solidFill>
                  <a:srgbClr val="1A1F26"/>
                </a:solidFill>
                <a:latin typeface="Segoe UI"/>
              </a:rPr>
              <a:t>MT turns "no labels" into "a checkable relation" — the right primitive for deployment conditions.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50" b="0" i="0">
                <a:solidFill>
                  <a:srgbClr val="1A1F26"/>
                </a:solidFill>
                <a:latin typeface="Segoe UI"/>
              </a:rPr>
              <a:t>Generative edits look real,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but can silently change the scene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 → a semantic-preservation check is non-negotiable.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50" b="0" i="0">
                <a:solidFill>
                  <a:srgbClr val="1A1F26"/>
                </a:solidFill>
                <a:latin typeface="Segoe UI"/>
              </a:rPr>
              <a:t>A fixed MR set does not transfer across domains → discovery must be driven by a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domain description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 and by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evidence collected so far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.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50" b="0" i="0">
                <a:solidFill>
                  <a:srgbClr val="1A1F26"/>
                </a:solidFill>
                <a:latin typeface="Segoe UI"/>
              </a:rPr>
              <a:t>The LLM must never decide pass/fail — deterministic transforms and objective oracles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Complex computing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05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676656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64592" marL="164592">
              <a:lnSpc>
                <a:spcPct val="122000"/>
              </a:lnSpc>
              <a:spcAft>
                <a:spcPts val="1100"/>
              </a:spcAft>
              <a:buChar char="•"/>
            </a:pPr>
            <a:r>
              <a:rPr sz="1250" b="1" i="0">
                <a:solidFill>
                  <a:srgbClr val="1A1F26"/>
                </a:solidFill>
                <a:latin typeface="Segoe UI"/>
              </a:rPr>
              <a:t>No ground truth for the oracle. 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"Should this transform change the output, and how?" must be synthesised per relation type — invariant, predictable, additive, relational — across classification, detection, segmentation and tracking.</a:t>
            </a:r>
          </a:p>
          <a:p>
            <a:pPr algn="l" indent="-164592" marL="164592">
              <a:lnSpc>
                <a:spcPct val="122000"/>
              </a:lnSpc>
              <a:spcAft>
                <a:spcPts val="1100"/>
              </a:spcAft>
              <a:buChar char="•"/>
            </a:pPr>
            <a:r>
              <a:rPr sz="1250" b="1" i="0">
                <a:solidFill>
                  <a:srgbClr val="1A1F26"/>
                </a:solidFill>
                <a:latin typeface="Segoe UI"/>
              </a:rPr>
              <a:t>Open-ended relation space. 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The agent proposes new relations from a domain description and accumulated failures; each must pass schema, task-compatibility, domain, feasibility and semantic checks before it can run.</a:t>
            </a:r>
          </a:p>
          <a:p>
            <a:pPr algn="l" indent="-164592" marL="164592">
              <a:lnSpc>
                <a:spcPct val="122000"/>
              </a:lnSpc>
              <a:spcAft>
                <a:spcPts val="1100"/>
              </a:spcAft>
              <a:buChar char="•"/>
            </a:pPr>
            <a:r>
              <a:rPr sz="1250" b="1" i="0">
                <a:solidFill>
                  <a:srgbClr val="1A1F26"/>
                </a:solidFill>
                <a:latin typeface="Segoe UI"/>
              </a:rPr>
              <a:t>Generative transforms break silently. 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An edit can add or remove objects — needs a CLIP gate with a regenerate-or-fallback loop.</a:t>
            </a:r>
          </a:p>
          <a:p>
            <a:pPr algn="l" indent="-164592" marL="164592">
              <a:lnSpc>
                <a:spcPct val="122000"/>
              </a:lnSpc>
              <a:spcAft>
                <a:spcPts val="1100"/>
              </a:spcAft>
              <a:buChar char="•"/>
            </a:pPr>
            <a:r>
              <a:rPr sz="1250" b="1" i="0">
                <a:solidFill>
                  <a:srgbClr val="1A1F26"/>
                </a:solidFill>
                <a:latin typeface="Segoe UI"/>
              </a:rPr>
              <a:t>Search under budget. 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transform × image × parameter is a huge space; exhaustive testing is infeasible → adaptive, evidence-guided selection.</a:t>
            </a:r>
          </a:p>
          <a:p>
            <a:pPr algn="l" indent="-164592" marL="164592">
              <a:lnSpc>
                <a:spcPct val="122000"/>
              </a:lnSpc>
              <a:spcAft>
                <a:spcPts val="1100"/>
              </a:spcAft>
              <a:buChar char="•"/>
            </a:pPr>
            <a:r>
              <a:rPr sz="1250" b="1" i="0">
                <a:solidFill>
                  <a:srgbClr val="1A1F26"/>
                </a:solidFill>
                <a:latin typeface="Segoe UI"/>
              </a:rPr>
              <a:t>Reproducible verdicts</a:t>
            </a:r>
            <a:r>
              <a:rPr sz="1250" b="0" i="0">
                <a:solidFill>
                  <a:srgbClr val="1A1F26"/>
                </a:solidFill>
                <a:latin typeface="Segoe UI"/>
              </a:rPr>
              <a:t> from a pipeline that contains a stochastic LLM and a stochastic image editor.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71600"/>
            <a:ext cx="3977639" cy="42062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36408" y="1572768"/>
            <a:ext cx="3575303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CCP MAPPING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0" i="0">
                <a:solidFill>
                  <a:srgbClr val="1A1F26"/>
                </a:solidFill>
                <a:latin typeface="Segoe UI"/>
              </a:rPr>
              <a:t>Depth of analysis &amp; abstract reasoning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0" i="0">
                <a:solidFill>
                  <a:srgbClr val="1A1F26"/>
                </a:solidFill>
                <a:latin typeface="Segoe UI"/>
              </a:rPr>
              <a:t>No standard, off-the-shelf solution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0" i="0">
                <a:solidFill>
                  <a:srgbClr val="1A1F26"/>
                </a:solidFill>
                <a:latin typeface="Segoe UI"/>
              </a:rPr>
              <a:t>Novel integration: VLM + LLM + editor + CLIP + model + oracle + memory</a:t>
            </a:r>
          </a:p>
          <a:p>
            <a:pPr algn="l" indent="-164592" marL="164592">
              <a:lnSpc>
                <a:spcPct val="122000"/>
              </a:lnSpc>
              <a:spcAft>
                <a:spcPts val="900"/>
              </a:spcAft>
              <a:buChar char="•"/>
            </a:pPr>
            <a:r>
              <a:rPr sz="1200" b="0" i="0">
                <a:solidFill>
                  <a:srgbClr val="1A1F26"/>
                </a:solidFill>
                <a:latin typeface="Segoe UI"/>
              </a:rPr>
              <a:t>Conflicting requirements: </a:t>
            </a:r>
            <a:r>
              <a:rPr sz="1100" b="0" i="0">
                <a:solidFill>
                  <a:srgbClr val="1A1F26"/>
                </a:solidFill>
                <a:latin typeface="Consolas"/>
              </a:rPr>
              <a:t>realism ⟷ semantic fidelity ⟷ coverage ⟷ budget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Segoe UI"/>
              </a:rPr>
              <a:t>Systems, ML, program-analysis and HCI concerns in one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Proposed solution and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06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A1F26"/>
                </a:solidFill>
                <a:latin typeface="Consolas"/>
              </a:rPr>
              <a:t>Bootstrap sweep   </a:t>
            </a:r>
            <a:r>
              <a:rPr sz="1050" b="0" i="0">
                <a:solidFill>
                  <a:srgbClr val="8B94A1"/>
                </a:solidFill>
                <a:latin typeface="Segoe UI"/>
              </a:rPr>
              <a:t>~10 images × transform library → testing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874519"/>
            <a:ext cx="25400" cy="324612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216" y="1929383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74519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8B94A1"/>
                </a:solidFill>
                <a:latin typeface="Consolas"/>
              </a:rPr>
              <a:t>1  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Pick image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   from the dataset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2336291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6A5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81427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8B94A1"/>
                </a:solidFill>
                <a:latin typeface="Consolas"/>
              </a:rPr>
              <a:t>2   </a:t>
            </a:r>
            <a:r>
              <a:rPr sz="1250" b="1" i="0">
                <a:solidFill>
                  <a:srgbClr val="6A5ACD"/>
                </a:solidFill>
                <a:latin typeface="Segoe UI"/>
              </a:rPr>
              <a:t>Describe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   vision model → text caption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2743199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6A5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688335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8B94A1"/>
                </a:solidFill>
                <a:latin typeface="Consolas"/>
              </a:rPr>
              <a:t>3   </a:t>
            </a:r>
            <a:r>
              <a:rPr sz="1250" b="1" i="0">
                <a:solidFill>
                  <a:srgbClr val="6A5ACD"/>
                </a:solidFill>
                <a:latin typeface="Segoe UI"/>
              </a:rPr>
              <a:t>Plan relation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   LLM + memory — may invent a new MR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3150107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095243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8B94A1"/>
                </a:solidFill>
                <a:latin typeface="Consolas"/>
              </a:rPr>
              <a:t>4  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Transform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   InstructPix2Pix if generative · code otherwise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3557015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502151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8B94A1"/>
                </a:solidFill>
                <a:latin typeface="Consolas"/>
              </a:rPr>
              <a:t>5  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Semantic check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   CLIP: is the meaning preserved?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3963923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09059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8B94A1"/>
                </a:solidFill>
                <a:latin typeface="Consolas"/>
              </a:rPr>
              <a:t>6  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Run model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   only if the check passed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" y="4370831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15967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8B94A1"/>
                </a:solidFill>
                <a:latin typeface="Consolas"/>
              </a:rPr>
              <a:t>7  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Verify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   task-aware oracle — relation held?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" y="4777739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722875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8B94A1"/>
                </a:solidFill>
                <a:latin typeface="Consolas"/>
              </a:rPr>
              <a:t>8   </a:t>
            </a:r>
            <a:r>
              <a:rPr sz="1250" b="1" i="0">
                <a:solidFill>
                  <a:srgbClr val="1A1F26"/>
                </a:solidFill>
                <a:latin typeface="Segoe UI"/>
              </a:rPr>
              <a:t>Update memory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   store image · transform · verdict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175503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6A5ACD"/>
                </a:solidFill>
                <a:latin typeface="Segoe UI"/>
              </a:rPr>
              <a:t>↻  </a:t>
            </a:r>
            <a:r>
              <a:rPr sz="1100" b="0" i="0">
                <a:solidFill>
                  <a:srgbClr val="8B94A1"/>
                </a:solidFill>
                <a:latin typeface="Segoe UI"/>
              </a:rPr>
              <a:t>memory feeds step 3 — the loop repeats under a fixed test budget, then compiles the </a:t>
            </a:r>
            <a:r>
              <a:rPr sz="1100" b="1" i="0">
                <a:solidFill>
                  <a:srgbClr val="1A1F26"/>
                </a:solidFill>
                <a:latin typeface="Segoe UI"/>
              </a:rPr>
              <a:t>robustness &amp; coverage report</a:t>
            </a:r>
            <a:r>
              <a:rPr sz="1100" b="0" i="0">
                <a:solidFill>
                  <a:srgbClr val="8B94A1"/>
                </a:solidFill>
                <a:latin typeface="Segoe U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25880"/>
            <a:ext cx="5212080" cy="21488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1527048"/>
            <a:ext cx="4809744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MAIN MODULES</a:t>
            </a:r>
          </a:p>
          <a:p>
            <a:pPr algn="l">
              <a:lnSpc>
                <a:spcPct val="16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5B6675"/>
                </a:solidFill>
                <a:latin typeface="Segoe UI"/>
              </a:rPr>
              <a:t>Model adapter · Bootstrap sweep · MR Discovery Agent · MR Validator · Adaptive Selection Agent · Transformation Engine (InstructPix2Pix + deterministic) · Semantic Validator (CLIP) · Task-aware Oracle · Failure Analyzer · Orchestrator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657600"/>
            <a:ext cx="5212080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858768"/>
            <a:ext cx="4809744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2F6BFF"/>
                </a:solidFill>
                <a:latin typeface="Consolas"/>
              </a:rPr>
              <a:t>CONTRIBUTION</a:t>
            </a:r>
          </a:p>
          <a:p>
            <a:pPr algn="l">
              <a:lnSpc>
                <a:spcPct val="15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5B6675"/>
                </a:solidFill>
                <a:latin typeface="Segoe UI"/>
              </a:rPr>
              <a:t>A domain-adaptive agentic MT framework that (1) </a:t>
            </a:r>
            <a:r>
              <a:rPr sz="1150" b="1" i="0">
                <a:solidFill>
                  <a:srgbClr val="5B6675"/>
                </a:solidFill>
                <a:latin typeface="Segoe UI"/>
              </a:rPr>
              <a:t>discovers and validates new metamorphic relations</a:t>
            </a:r>
            <a:r>
              <a:rPr sz="1150" b="0" i="0">
                <a:solidFill>
                  <a:srgbClr val="5B6675"/>
                </a:solidFill>
                <a:latin typeface="Segoe UI"/>
              </a:rPr>
              <a:t> from a plain-language domain description and accumulated failure evidence, (2) executes them with </a:t>
            </a:r>
            <a:r>
              <a:rPr sz="1150" b="1" i="0">
                <a:solidFill>
                  <a:srgbClr val="5B6675"/>
                </a:solidFill>
                <a:latin typeface="Segoe UI"/>
              </a:rPr>
              <a:t>realistic generative or deterministic transforms behind a CLIP semantic gate</a:t>
            </a:r>
            <a:r>
              <a:rPr sz="1150" b="0" i="0">
                <a:solidFill>
                  <a:srgbClr val="5B6675"/>
                </a:solidFill>
                <a:latin typeface="Segoe UI"/>
              </a:rPr>
              <a:t>, (3) judges them with </a:t>
            </a:r>
            <a:r>
              <a:rPr sz="1150" b="1" i="0">
                <a:solidFill>
                  <a:srgbClr val="5B6675"/>
                </a:solidFill>
                <a:latin typeface="Segoe UI"/>
              </a:rPr>
              <a:t>task-aware oracles</a:t>
            </a:r>
            <a:r>
              <a:rPr sz="1150" b="0" i="0">
                <a:solidFill>
                  <a:srgbClr val="5B6675"/>
                </a:solidFill>
                <a:latin typeface="Segoe UI"/>
              </a:rPr>
              <a:t> across four CV tasks, and (4) </a:t>
            </a:r>
            <a:r>
              <a:rPr sz="1150" b="1" i="0">
                <a:solidFill>
                  <a:srgbClr val="5B6675"/>
                </a:solidFill>
                <a:latin typeface="Segoe UI"/>
              </a:rPr>
              <a:t>selects tests adaptively in a closed evidence-driven loop</a:t>
            </a:r>
            <a:r>
              <a:rPr sz="1150" b="0" i="0">
                <a:solidFill>
                  <a:srgbClr val="5B6675"/>
                </a:solidFill>
                <a:latin typeface="Segoe UI"/>
              </a:rPr>
              <a:t> — producing an interpretable robustness and coverage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POC-lite / feasibility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07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-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5623560" cy="3514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07492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950" b="0" i="0">
                <a:solidFill>
                  <a:srgbClr val="8B94A1"/>
                </a:solidFill>
                <a:latin typeface="Consolas"/>
              </a:rPr>
              <a:t>PROTOTYPE — ONE ITERATION OF THE LOOP,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440680"/>
            <a:ext cx="5623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5B6675"/>
                </a:solidFill>
                <a:latin typeface="Segoe UI"/>
              </a:rPr>
              <a:t>10 real </a:t>
            </a:r>
            <a:r>
              <a:rPr sz="1100" b="1" i="0">
                <a:solidFill>
                  <a:srgbClr val="5B6675"/>
                </a:solidFill>
                <a:latin typeface="Segoe UI"/>
              </a:rPr>
              <a:t>KITTI</a:t>
            </a:r>
            <a:r>
              <a:rPr sz="1100" b="0" i="0">
                <a:solidFill>
                  <a:srgbClr val="5B6675"/>
                </a:solidFill>
                <a:latin typeface="Segoe UI"/>
              </a:rPr>
              <a:t> street scenes + ground-truth boxes from Hugging Face; deterministic + generative-style transforms (fog · rain · night · dusk · haze · glare · motion blur · occlusion · rotation · insertion) generated offline with detection overlays. The full pipeline runs end-to-end, including a CLIP regenerate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71600"/>
            <a:ext cx="5166360" cy="274320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1572768"/>
            <a:ext cx="4764024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RISK EXPERIMENT — WHAT IT FOUND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7688" y="1847088"/>
            <a:ext cx="2450592" cy="89611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965960"/>
            <a:ext cx="21579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2200" b="1" i="0">
                <a:solidFill>
                  <a:srgbClr val="1A1F26"/>
                </a:solidFill>
                <a:latin typeface="Segoe UI Semibold"/>
              </a:rPr>
              <a:t>0.91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950" b="0" i="0">
                <a:solidFill>
                  <a:srgbClr val="8B94A1"/>
                </a:solidFill>
                <a:latin typeface="Consolas"/>
              </a:rPr>
              <a:t>BASELINE MAP@0.5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47088"/>
            <a:ext cx="2450592" cy="89611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1965960"/>
            <a:ext cx="21579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2200" b="1" i="0">
                <a:solidFill>
                  <a:srgbClr val="D6323A"/>
                </a:solidFill>
                <a:latin typeface="Segoe UI Semibold"/>
              </a:rPr>
              <a:t>5 / 10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950" b="0" i="0">
                <a:solidFill>
                  <a:srgbClr val="8B94A1"/>
                </a:solidFill>
                <a:latin typeface="Consolas"/>
              </a:rPr>
              <a:t>RELATIONS VIOLATED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2889504"/>
            <a:ext cx="2450592" cy="89611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3008376"/>
            <a:ext cx="21579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2200" b="1" i="0">
                <a:solidFill>
                  <a:srgbClr val="D6323A"/>
                </a:solidFill>
                <a:latin typeface="Segoe UI Semibold"/>
              </a:rPr>
              <a:t>pedestrian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950" b="0" i="0">
                <a:solidFill>
                  <a:srgbClr val="8B94A1"/>
                </a:solidFill>
                <a:latin typeface="Consolas"/>
              </a:rPr>
              <a:t>MOST AFFECTED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4584" y="2889504"/>
            <a:ext cx="2450592" cy="89611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3008376"/>
            <a:ext cx="21579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2200" b="1" i="0">
                <a:solidFill>
                  <a:srgbClr val="2F6BFF"/>
                </a:solidFill>
                <a:latin typeface="Segoe UI Semibold"/>
              </a:rPr>
              <a:t>28%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950" b="0" i="0">
                <a:solidFill>
                  <a:srgbClr val="8B94A1"/>
                </a:solidFill>
                <a:latin typeface="Consolas"/>
              </a:rPr>
              <a:t>ROBUSTNESS · NIGHT &amp; OCCL.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80560"/>
            <a:ext cx="5166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sz="1200" b="0" i="0">
                <a:solidFill>
                  <a:srgbClr val="5B6675"/>
                </a:solidFill>
                <a:latin typeface="Segoe UI"/>
              </a:rPr>
              <a:t>Violations concentrated under </a:t>
            </a:r>
            <a:r>
              <a:rPr sz="1200" b="1" i="0">
                <a:solidFill>
                  <a:srgbClr val="5B6675"/>
                </a:solidFill>
                <a:latin typeface="Segoe UI"/>
              </a:rPr>
              <a:t>fog, rain, night, occlusion and glare</a:t>
            </a:r>
            <a:r>
              <a:rPr sz="1200" b="0" i="0">
                <a:solidFill>
                  <a:srgbClr val="5B6675"/>
                </a:solidFill>
                <a:latin typeface="Segoe UI"/>
              </a:rPr>
              <a:t> — exactly the untested conditions — and produced a per-condition robustness profile.</a:t>
            </a:r>
          </a:p>
          <a:p>
            <a:pPr algn="l">
              <a:lnSpc>
                <a:spcPct val="15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Full MVP not required</a:t>
            </a:r>
            <a:r>
              <a:rPr sz="1200" b="0" i="0">
                <a:solidFill>
                  <a:srgbClr val="8B94A1"/>
                </a:solidFill>
                <a:latin typeface="Segoe UI"/>
              </a:rPr>
              <a:t> — this proves the workflow, the data path and that the hardest risks are addressable.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Evaluation plan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08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486400" cy="502920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572768"/>
            <a:ext cx="5084064" cy="462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HOW SUCCESS IS MEASURED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Oracle validity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verdicts vs human judgement on a labelled sample   </a:t>
            </a:r>
            <a:r>
              <a:rPr sz="1100" b="0" i="0">
                <a:solidFill>
                  <a:srgbClr val="2F6BFF"/>
                </a:solidFill>
                <a:latin typeface="Consolas"/>
              </a:rPr>
              <a:t>≥ 90% agreement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MR discovery quality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% of proposed relations that pass the validator and expert review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Semantic gate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CLIP precision/recall vs human "did the meaning change?" labels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Fault-finding power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real violations surfaced vs a manual audit and vs the fixed-21-MR baseline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Coverage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relation-type and condition coverage reached within budget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Reproducibility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identical inputs → identical verdicts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371600"/>
          <a:ext cx="521208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2697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4A1"/>
                          </a:solidFill>
                          <a:latin typeface="Consolas"/>
                        </a:rPr>
                        <a:t>Risk</a:t>
                      </a:r>
                    </a:p>
                  </a:txBody>
                  <a:tcPr marL="82296" marR="82296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4A1"/>
                          </a:solidFill>
                          <a:latin typeface="Consolas"/>
                        </a:rPr>
                        <a:t>Mitigation</a:t>
                      </a:r>
                    </a:p>
                  </a:txBody>
                  <a:tcPr marL="82296" marR="82296" marT="36576" marB="36576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LLM proposes invalid relations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validator + human-in-the-loop gate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Generative edit changes content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CLIP gate → regenerate → deterministic fallback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Compute cost of image editing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cache · batch · budget · smaller editor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Dataset licensing (KITTI = non-commercial)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research use only; swap-in dataset interface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Scope across 4 CV tasks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6"/>
                          </a:solidFill>
                          <a:latin typeface="Segoe UI"/>
                        </a:rPr>
                        <a:t>detection first; others via the adapter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251960"/>
            <a:ext cx="5212080" cy="2148840"/>
          </a:xfrm>
          <a:prstGeom prst="roundRect">
            <a:avLst>
              <a:gd name="adj" fmla="val 4500"/>
            </a:avLst>
          </a:prstGeom>
          <a:solidFill>
            <a:srgbClr val="EEECFB"/>
          </a:solidFill>
          <a:ln w="12700">
            <a:solidFill>
              <a:srgbClr val="6A5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4453128"/>
            <a:ext cx="4809744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6A5ACD"/>
                </a:solidFill>
                <a:latin typeface="Consolas"/>
              </a:rPr>
              <a:t>TOOL / API / GENAI BOUNDARY</a:t>
            </a:r>
          </a:p>
          <a:p>
            <a:pPr algn="l">
              <a:lnSpc>
                <a:spcPct val="15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5B6675"/>
                </a:solidFill>
                <a:latin typeface="Segoe UI"/>
              </a:rPr>
              <a:t>GenAI</a:t>
            </a:r>
            <a:r>
              <a:rPr sz="1150" b="0" i="0">
                <a:solidFill>
                  <a:srgbClr val="5B6675"/>
                </a:solidFill>
                <a:latin typeface="Segoe UI"/>
              </a:rPr>
              <a:t> is used to propose relations and edit images — every output is validated and can be rejected. </a:t>
            </a:r>
            <a:r>
              <a:rPr sz="1150" b="1" i="0">
                <a:solidFill>
                  <a:srgbClr val="5B6675"/>
                </a:solidFill>
                <a:latin typeface="Segoe UI"/>
              </a:rPr>
              <a:t>The oracle, the metrics and every pass/fail decision are deterministic code.</a:t>
            </a:r>
            <a:r>
              <a:rPr sz="1150" b="0" i="0">
                <a:solidFill>
                  <a:srgbClr val="5B6675"/>
                </a:solidFill>
                <a:latin typeface="Segoe UI"/>
              </a:rPr>
              <a:t> Third-party, all open / research-licensed: HF datasets, an LLM, InstructPix2Pix, CLIP. Our work: the agents, validators, oracles, orchestration and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Work division and iteration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09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852160" cy="502920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572768"/>
            <a:ext cx="5449824" cy="462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OWNERSHIP</a:t>
            </a:r>
          </a:p>
          <a:p>
            <a:pPr algn="l" indent="-164592" marL="164592">
              <a:lnSpc>
                <a:spcPct val="122000"/>
              </a:lnSpc>
              <a:spcAft>
                <a:spcPts val="1200"/>
              </a:spcAft>
              <a:buChar char="•"/>
            </a:pPr>
            <a:r>
              <a:rPr sz="1200" b="1" i="1">
                <a:solidFill>
                  <a:srgbClr val="2F6BFF"/>
                </a:solidFill>
                <a:latin typeface="Segoe UI"/>
              </a:rPr>
              <a:t>〈Member A〉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model adapters · bootstrap sweep · deterministic transformation engine · detection oracle</a:t>
            </a:r>
          </a:p>
          <a:p>
            <a:pPr algn="l" indent="-164592" marL="164592">
              <a:lnSpc>
                <a:spcPct val="122000"/>
              </a:lnSpc>
              <a:spcAft>
                <a:spcPts val="1200"/>
              </a:spcAft>
              <a:buChar char="•"/>
            </a:pPr>
            <a:r>
              <a:rPr sz="1200" b="1" i="1">
                <a:solidFill>
                  <a:srgbClr val="2F6BFF"/>
                </a:solidFill>
                <a:latin typeface="Segoe UI"/>
              </a:rPr>
              <a:t>〈Member B〉</a:t>
            </a:r>
            <a:r>
              <a:rPr sz="1200" b="0" i="0">
                <a:solidFill>
                  <a:srgbClr val="6A5ACD"/>
                </a:solidFill>
                <a:latin typeface="Segoe UI"/>
              </a:rPr>
              <a:t> — MR Discovery Agent · MR Validator · Adaptive Selection Agent · testing memory · LLM integration</a:t>
            </a:r>
          </a:p>
          <a:p>
            <a:pPr algn="l" indent="-164592" marL="164592">
              <a:lnSpc>
                <a:spcPct val="122000"/>
              </a:lnSpc>
              <a:spcAft>
                <a:spcPts val="1200"/>
              </a:spcAft>
              <a:buChar char="•"/>
            </a:pPr>
            <a:r>
              <a:rPr sz="1200" b="1" i="1">
                <a:solidFill>
                  <a:srgbClr val="2F6BFF"/>
                </a:solidFill>
                <a:latin typeface="Segoe UI"/>
              </a:rPr>
              <a:t>〈Member C〉</a:t>
            </a:r>
            <a:r>
              <a:rPr sz="1200" b="0" i="0">
                <a:solidFill>
                  <a:srgbClr val="6A5ACD"/>
                </a:solidFill>
                <a:latin typeface="Segoe UI"/>
              </a:rPr>
              <a:t> — generative transform service (InstructPix2Pix) · CLIP semantic validator · failure analyzer · reporting UI</a:t>
            </a:r>
          </a:p>
          <a:p>
            <a:pPr algn="l" indent="-164592" marL="164592">
              <a:lnSpc>
                <a:spcPct val="122000"/>
              </a:lnSpc>
              <a:spcAft>
                <a:spcPts val="1200"/>
              </a:spcAft>
              <a:buChar char="•"/>
            </a:pPr>
            <a:r>
              <a:rPr sz="1200" b="1" i="0">
                <a:solidFill>
                  <a:srgbClr val="1A1F26"/>
                </a:solidFill>
                <a:latin typeface="Segoe UI"/>
              </a:rPr>
              <a:t>Shared</a:t>
            </a:r>
            <a:r>
              <a:rPr sz="1200" b="0" i="0">
                <a:solidFill>
                  <a:srgbClr val="1A1F26"/>
                </a:solidFill>
                <a:latin typeface="Segoe UI"/>
              </a:rPr>
              <a:t> — orchestrator · evaluation harness · report write-up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371600"/>
            <a:ext cx="4892040" cy="38404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572768"/>
            <a:ext cx="4489704" cy="343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ITERATIONS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150" b="1" i="0">
                <a:solidFill>
                  <a:srgbClr val="1A1F26"/>
                </a:solidFill>
                <a:latin typeface="Segoe UI"/>
              </a:rPr>
              <a:t>It 1 · FYP-1</a:t>
            </a:r>
            <a:r>
              <a:rPr sz="1150" b="0" i="0">
                <a:solidFill>
                  <a:srgbClr val="1A1F26"/>
                </a:solidFill>
                <a:latin typeface="Segoe UI"/>
              </a:rPr>
              <a:t> — adapter + bootstrap sweep + deterministic transforms + detection oracle + memory + demo on KITTI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150" b="1" i="0">
                <a:solidFill>
                  <a:srgbClr val="1A1F26"/>
                </a:solidFill>
                <a:latin typeface="Segoe UI"/>
              </a:rPr>
              <a:t>It 2 · FYP-1</a:t>
            </a:r>
            <a:r>
              <a:rPr sz="1150" b="0" i="0">
                <a:solidFill>
                  <a:srgbClr val="1A1F26"/>
                </a:solidFill>
                <a:latin typeface="Segoe UI"/>
              </a:rPr>
              <a:t> — MR Discovery Agent + Validator + CLIP gate + rule-based adaptive selection + robustness report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150" b="1" i="0">
                <a:solidFill>
                  <a:srgbClr val="6A5ACD"/>
                </a:solidFill>
                <a:latin typeface="Segoe UI"/>
              </a:rPr>
              <a:t>It 3 · FYP-2</a:t>
            </a:r>
            <a:r>
              <a:rPr sz="1150" b="0" i="0">
                <a:solidFill>
                  <a:srgbClr val="6A5ACD"/>
                </a:solidFill>
                <a:latin typeface="Segoe UI"/>
              </a:rPr>
              <a:t> — generative transform service + regenerate loop + LLM planning from memory</a:t>
            </a:r>
          </a:p>
          <a:p>
            <a:pPr algn="l" indent="-164592" marL="164592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150" b="1" i="0">
                <a:solidFill>
                  <a:srgbClr val="6A5ACD"/>
                </a:solidFill>
                <a:latin typeface="Segoe UI"/>
              </a:rPr>
              <a:t>It 4 · FYP-2</a:t>
            </a:r>
            <a:r>
              <a:rPr sz="1150" b="0" i="0">
                <a:solidFill>
                  <a:srgbClr val="6A5ACD"/>
                </a:solidFill>
                <a:latin typeface="Segoe UI"/>
              </a:rPr>
              <a:t> — segmentation &amp; tracking oracles via the adapter + evaluation study +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39496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A1F26"/>
                </a:solidFill>
                <a:latin typeface="Segoe UI"/>
              </a:rPr>
              <a:t>Milestones</a:t>
            </a:r>
            <a:r>
              <a:rPr sz="1150" b="0" i="0">
                <a:solidFill>
                  <a:srgbClr val="5B6675"/>
                </a:solidFill>
                <a:latin typeface="Segoe UI"/>
              </a:rPr>
              <a:t> aligned to the handbook — Proposal Defense wk 4 · Mid wk 8 (It 1) · Poster wk 13 · Final FYP-1 wk 15 (It 2, ≥ 45% implementation).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960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500" b="1" i="0">
                <a:solidFill>
                  <a:srgbClr val="1A1F26"/>
                </a:solidFill>
                <a:latin typeface="Segoe UI Semibold"/>
              </a:rPr>
              <a:t>DEI, ethics and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457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B94A1"/>
                </a:solidFill>
                <a:latin typeface="Consolas"/>
              </a:rPr>
              <a:t>10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57839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3441192" cy="42976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3038856" cy="3895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DEI</a:t>
            </a:r>
          </a:p>
          <a:p>
            <a:pPr algn="l">
              <a:lnSpc>
                <a:spcPct val="16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5"/>
                </a:solidFill>
                <a:latin typeface="Segoe UI"/>
              </a:rPr>
              <a:t>The framework's purpose is equity in ML reliability. It deliberately surfaces failures on under-represented classes and conditions — pedestrians at night, darker skin tones under low light, regional weather — and reports per class and per condition, so disparities are visible instead of hidden in an average. Test scenes and domain descriptions span geographies, lighting and appearance.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1417320"/>
            <a:ext cx="3441192" cy="42976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5048" y="1618488"/>
            <a:ext cx="3038856" cy="3895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ETHICS</a:t>
            </a:r>
          </a:p>
          <a:p>
            <a:pPr algn="l">
              <a:lnSpc>
                <a:spcPct val="16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5"/>
                </a:solidFill>
                <a:latin typeface="Segoe UI"/>
              </a:rPr>
              <a:t>No human-subjects data collection. Public research images with visible faces are handled per dataset terms (blurred on export where required). We never claim "production ready" — the report always states coverage and remaining budget, so results cannot be cherry-picked into a safety claim.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0832" y="1417320"/>
            <a:ext cx="3441192" cy="42976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0" y="1618488"/>
            <a:ext cx="3038856" cy="3895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050" b="1" i="0">
                <a:solidFill>
                  <a:srgbClr val="8B94A1"/>
                </a:solidFill>
                <a:latin typeface="Consolas"/>
              </a:rPr>
              <a:t>LEGAL</a:t>
            </a:r>
          </a:p>
          <a:p>
            <a:pPr algn="l">
              <a:lnSpc>
                <a:spcPct val="16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5"/>
                </a:solidFill>
                <a:latin typeface="Segoe UI"/>
              </a:rPr>
              <a:t>Datasets under their licences — KITTI: CC BY-NC-SA 3.0, non-commercial research only. Model weights (CLIP, InstructPix2Pix) and the LLM under their own terms. All third-party components isolated behind interfaces; the framework, agents, oracles and UI are the group's own work. Testing memory stores only image ids, transform parameters and verdicts — no PII.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